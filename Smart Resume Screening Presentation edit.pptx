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2257425"/>
            <a:ext cx="857250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695575"/>
            <a:ext cx="90011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sz="3750" b="1" i="0" u="none">
                <a:solidFill>
                  <a:srgbClr val="FFFFFF"/>
                </a:solidFill>
                <a:latin typeface="Space Grotesk"/>
              </a:rPr>
              <a:t>Smart Resume Screener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409950"/>
            <a:ext cx="8572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An AI-Powered Candidate Ranking, Feedback, and Automated Interview Generation Engine Built on Streamlit, spaCy, and Sentence Transformers.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257675"/>
            <a:ext cx="8572500" cy="22860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22C55E"/>
                </a:solidFill>
                <a:latin typeface="Plus Jakarta Sans SemiBold"/>
              </a:rPr>
              <a:t>Modular Python Architecture • Semantic Matching Pipelines • Dynamic Analytics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387" y="4295775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266950"/>
            <a:ext cx="5324475" cy="590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266950"/>
            <a:ext cx="5324475" cy="590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3048000"/>
            <a:ext cx="5324475" cy="590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048000"/>
            <a:ext cx="5324475" cy="590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3829050"/>
            <a:ext cx="5324475" cy="590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829050"/>
            <a:ext cx="5324475" cy="590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4610100"/>
            <a:ext cx="5324475" cy="590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610100"/>
            <a:ext cx="5324475" cy="590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2409825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275" y="2409825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3190875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3190875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" y="3971925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1275" y="397192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" y="4752975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91275" y="4752975"/>
            <a:ext cx="3048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23975" y="2462212"/>
            <a:ext cx="2381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Plus Jakarta Sans SemiBold"/>
              </a:rPr>
              <a:t>Project Overview &amp;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8950" y="2462212"/>
            <a:ext cx="2743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Plus Jakarta Sans SemiBold"/>
              </a:rPr>
              <a:t>Modular Codebase &amp; Folder Blueprint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3975" y="3243262"/>
            <a:ext cx="2286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Plus Jakarta Sans SemiBold"/>
              </a:rPr>
              <a:t>Resume Ingestion &amp; Job parsing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8950" y="3243262"/>
            <a:ext cx="2571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Plus Jakarta Sans SemiBold"/>
              </a:rPr>
              <a:t>AI Core: NLP Formulation &amp; Weights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3975" y="4024312"/>
            <a:ext cx="3095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Plus Jakarta Sans SemiBold"/>
              </a:rPr>
              <a:t>Interactive Recruiter Executive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8950" y="4024312"/>
            <a:ext cx="26574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Plus Jakarta Sans SemiBold"/>
              </a:rPr>
              <a:t>Automated Ranking &amp; Benchmarking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3975" y="4805362"/>
            <a:ext cx="2809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Plus Jakarta Sans SemiBold"/>
              </a:rPr>
              <a:t>Cognitive Candidate Feedback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8950" y="4805362"/>
            <a:ext cx="28384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Plus Jakarta Sans SemiBold"/>
              </a:rPr>
              <a:t>Dynamic Interview Question Generator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485775"/>
            <a:ext cx="1120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Space Grotesk"/>
              </a:rPr>
              <a:t>Table of Contents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275" y="485775"/>
            <a:ext cx="57150" cy="3714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275" y="2590800"/>
            <a:ext cx="5778251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Designed as a production-ready application for the </a:t>
            </a: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IBM AI Internship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, the system decouples machine learning models from the user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3162300"/>
            <a:ext cx="544487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Decoupled Design: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High-performance NLP backend connected securely to Streamlit.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3733800"/>
            <a:ext cx="544487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Integrated SQLite: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Local database caching parsed scores and applicant analytics.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4305300"/>
            <a:ext cx="544487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Core Pipeline: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Parses raw unstructured texts and translates them into semantic embeddings.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3176587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748087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319587"/>
            <a:ext cx="17145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5" y="485775"/>
            <a:ext cx="1120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Space Grotesk"/>
              </a:rPr>
              <a:t>Project Overview &amp;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275" y="485775"/>
            <a:ext cx="57150" cy="3714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901" y="2381398"/>
            <a:ext cx="4727823" cy="27048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275" y="2805112"/>
            <a:ext cx="5778251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Built with enterprise software standards. Logic layers are segregated to ensure clean debugging and professional development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6976" y="2609998"/>
            <a:ext cx="14001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9CA3AF"/>
                </a:solidFill>
                <a:latin typeface="Plus Jakarta Sans"/>
              </a:rPr>
              <a:t>Smart_Resume_AI/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55978" y="2836664"/>
            <a:ext cx="4857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0328" y="2836664"/>
            <a:ext cx="12001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1" u="none">
                <a:solidFill>
                  <a:srgbClr val="9CA3AF"/>
                </a:solidFill>
                <a:latin typeface="Plus Jakarta Sans"/>
              </a:rPr>
              <a:t># Navigation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55978" y="3063329"/>
            <a:ext cx="11334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requirements.txt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8028" y="3063329"/>
            <a:ext cx="14192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1" u="none">
                <a:solidFill>
                  <a:srgbClr val="9CA3AF"/>
                </a:solidFill>
                <a:latin typeface="Plus Jakarta Sans"/>
              </a:rPr>
              <a:t># spaCy, SBERT, etc.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5978" y="3289994"/>
            <a:ext cx="857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1803" y="3289994"/>
            <a:ext cx="10001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1" u="none">
                <a:solidFill>
                  <a:srgbClr val="9CA3AF"/>
                </a:solidFill>
                <a:latin typeface="Plus Jakarta Sans"/>
              </a:rPr>
              <a:t># Setup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5978" y="3516659"/>
            <a:ext cx="361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 SemiBold"/>
              </a:rPr>
              <a:t>utils/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9363" y="3743325"/>
            <a:ext cx="1238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resume_parser.py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188" y="3743325"/>
            <a:ext cx="1562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1" u="none">
                <a:solidFill>
                  <a:srgbClr val="9CA3AF"/>
                </a:solidFill>
                <a:latin typeface="Plus Jakarta Sans"/>
              </a:rPr>
              <a:t># spaCy NER Extractor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9363" y="3969990"/>
            <a:ext cx="11049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skill_matcher.py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2838" y="3969990"/>
            <a:ext cx="1238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1" u="none">
                <a:solidFill>
                  <a:srgbClr val="9CA3AF"/>
                </a:solidFill>
                <a:latin typeface="Plus Jakarta Sans"/>
              </a:rPr>
              <a:t># TF-IDF Similarity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9363" y="4196655"/>
            <a:ext cx="7143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ranking.py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313" y="4196655"/>
            <a:ext cx="1828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1" u="none">
                <a:solidFill>
                  <a:srgbClr val="9CA3AF"/>
                </a:solidFill>
                <a:latin typeface="Plus Jakarta Sans"/>
              </a:rPr>
              <a:t># Candidate Ranking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9363" y="4423320"/>
            <a:ext cx="647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charts.py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5638" y="4423320"/>
            <a:ext cx="11715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1" u="none">
                <a:solidFill>
                  <a:srgbClr val="9CA3AF"/>
                </a:solidFill>
                <a:latin typeface="Plus Jakarta Sans"/>
              </a:rPr>
              <a:t># Plotly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5978" y="4649985"/>
            <a:ext cx="523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 SemiBold"/>
              </a:rPr>
              <a:t>assets/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8428" y="4649985"/>
            <a:ext cx="17621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1" u="none">
                <a:solidFill>
                  <a:srgbClr val="9CA3AF"/>
                </a:solidFill>
                <a:latin typeface="Plus Jakarta Sans"/>
              </a:rPr>
              <a:t># Mock Database Buffers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650" y="3376612"/>
            <a:ext cx="5444876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app.py: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Houses clean Streamlit interactive routing UI wrapper.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50" y="3733800"/>
            <a:ext cx="544487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utils/ Folder: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Houses separate Python parsers, similarity estimators, database managers and graph engines.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650" y="4305300"/>
            <a:ext cx="5444876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assets/ Folder: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Houses sample resumes and raw mock JDs.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390900"/>
            <a:ext cx="133350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748087"/>
            <a:ext cx="171450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4319587"/>
            <a:ext cx="171450" cy="1809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7725" y="485775"/>
            <a:ext cx="1120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Space Grotesk"/>
              </a:rPr>
              <a:t>Modular System Code Architecture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275" y="485775"/>
            <a:ext cx="57150" cy="3714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114103"/>
            <a:ext cx="10839450" cy="7198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3262610"/>
            <a:ext cx="3486150" cy="20907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925" y="3262610"/>
            <a:ext cx="3486150" cy="20907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9575" y="3262610"/>
            <a:ext cx="3486150" cy="20907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0935" y="2380803"/>
            <a:ext cx="6270128" cy="2055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024610"/>
            <a:ext cx="316039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FFFFF"/>
                </a:solidFill>
                <a:latin typeface="Space Grotesk"/>
              </a:rPr>
              <a:t>TF-IDF Direct Matches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57985"/>
            <a:ext cx="3009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Evaluates hard key terms and direct phrase alignments using robust token frequencies ( 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1050" y="4024610"/>
            <a:ext cx="316039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FFFFF"/>
                </a:solidFill>
                <a:latin typeface="Space Grotesk"/>
              </a:rPr>
              <a:t>Semantic Vector 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1050" y="4357985"/>
            <a:ext cx="3009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Sentence-Transformers identify latent synonyms and deep context alignment, matching implicit experiences.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7700" y="4024610"/>
            <a:ext cx="316039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FFFFF"/>
                </a:solidFill>
                <a:latin typeface="Space Grotesk"/>
              </a:rPr>
              <a:t>Weighted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7700" y="4357985"/>
            <a:ext cx="3009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Normalizes skills, certificates, and projects into a precise aggregated index scale.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548360"/>
            <a:ext cx="2667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853285"/>
            <a:ext cx="355699" cy="12799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1050" y="3548360"/>
            <a:ext cx="3810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700" y="3548360"/>
            <a:ext cx="3810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7725" y="485775"/>
            <a:ext cx="1120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Space Grotesk"/>
              </a:rPr>
              <a:t>AI Core: 100-Point Formulation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" y="485775"/>
            <a:ext cx="57150" cy="3714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900" y="2605087"/>
            <a:ext cx="4727823" cy="800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901" y="3533775"/>
            <a:ext cx="4727823" cy="800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901" y="4448175"/>
            <a:ext cx="4727823" cy="800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87901" y="2219325"/>
            <a:ext cx="472782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Plus Jakarta Sans SemiBold"/>
              </a:rPr>
              <a:t>Real-Time Cohort KPI Insights: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0301" y="2771775"/>
            <a:ext cx="442302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 dirty="0">
                <a:solidFill>
                  <a:srgbClr val="8B949E"/>
                </a:solidFill>
                <a:latin typeface="Plus Jakarta Sans"/>
              </a:rPr>
              <a:t>TOTAL PROCESSED APPLICANTS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301" y="2943225"/>
            <a:ext cx="464417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2C55E"/>
                </a:solidFill>
                <a:latin typeface="Space Grotesk"/>
              </a:rPr>
              <a:t>3 Candidates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0301" y="3686175"/>
            <a:ext cx="442302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8B949E"/>
                </a:solidFill>
                <a:latin typeface="Plus Jakarta Sans"/>
              </a:rPr>
              <a:t>AVERAGE COHORT ATS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301" y="3857625"/>
            <a:ext cx="464417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ACC15"/>
                </a:solidFill>
                <a:latin typeface="Space Grotesk"/>
              </a:rPr>
              <a:t>57.48%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301" y="4600575"/>
            <a:ext cx="442302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8B949E"/>
                </a:solidFill>
                <a:latin typeface="Plus Jakarta Sans"/>
              </a:rPr>
              <a:t>HIGHEST RECORDED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301" y="4772025"/>
            <a:ext cx="464417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Space Grotesk"/>
              </a:rPr>
              <a:t>69.38%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85775"/>
            <a:ext cx="1120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Space Grotesk"/>
              </a:rPr>
              <a:t>Executive Analytics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" y="485775"/>
            <a:ext cx="57150" cy="3714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901" y="2776537"/>
            <a:ext cx="4727823" cy="695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901" y="3586162"/>
            <a:ext cx="4727823" cy="695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901" y="4395787"/>
            <a:ext cx="4727823" cy="695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87901" y="2376487"/>
            <a:ext cx="472782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Plus Jakarta Sans SemiBold"/>
              </a:rPr>
              <a:t>Evaluated Active Dataset: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0776" y="2919412"/>
            <a:ext cx="7810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8B949E"/>
                </a:solidFill>
                <a:latin typeface="Plus Jakarta Sans"/>
              </a:rPr>
              <a:t>RANK 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5625" y="2995612"/>
            <a:ext cx="6572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22C55E"/>
                </a:solidFill>
                <a:latin typeface="Plus Jakarta Sans"/>
              </a:rPr>
              <a:t>69.38%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0776" y="3729037"/>
            <a:ext cx="10191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8B949E"/>
                </a:solidFill>
                <a:latin typeface="Plus Jakarta Sans"/>
              </a:rPr>
              <a:t>RANK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34675" y="3805237"/>
            <a:ext cx="6381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ACC15"/>
                </a:solidFill>
                <a:latin typeface="Plus Jakarta Sans"/>
              </a:rPr>
              <a:t>62.41%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0776" y="4538662"/>
            <a:ext cx="7620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8B949E"/>
                </a:solidFill>
                <a:latin typeface="Plus Jakarta Sans"/>
              </a:rPr>
              <a:t>RANK #3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77525" y="4614862"/>
            <a:ext cx="6953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F4444"/>
                </a:solidFill>
                <a:latin typeface="Plus Jakarta Sans"/>
              </a:rPr>
              <a:t>40.65%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0776" y="3128962"/>
            <a:ext cx="82010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John 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0776" y="3938587"/>
            <a:ext cx="107013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Sarah Johnson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0776" y="4748212"/>
            <a:ext cx="8001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Mike Chen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85775"/>
            <a:ext cx="1120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Space Grotesk"/>
              </a:rPr>
              <a:t>Leaderboards &amp; Candidate Rankings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275" y="485775"/>
            <a:ext cx="57150" cy="3714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50" y="1995487"/>
            <a:ext cx="544487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Multi-criteria Filters: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Filter applicants dynamically based on tech skills, minimum experience ranges, and custom ATS thresholds.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2566987"/>
            <a:ext cx="544487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Clean Data Export: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Generates a production-ready CSV report of processed scores instantly.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138487"/>
            <a:ext cx="544487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Candidate Manager: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Easily clean, reset, or delete custom profiles in the local database.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009775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581275"/>
            <a:ext cx="1333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152775"/>
            <a:ext cx="152400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7725" y="485775"/>
            <a:ext cx="1120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Space Grotesk"/>
              </a:rPr>
              <a:t>Recruiter Filtering &amp; CSV Export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275" y="485775"/>
            <a:ext cx="57150" cy="3714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87901" y="2676525"/>
            <a:ext cx="472782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Plus Jakarta Sans SemiBold"/>
              </a:rPr>
              <a:t>Rich Charting Infrastructures: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1276" y="3076575"/>
            <a:ext cx="439444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ATS Score Distributions: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Histogram bins grouping candidates' performance instantly.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1276" y="3648075"/>
            <a:ext cx="439444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Recommendation Shares: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Visual doughnut chart splitting cohort recommendations into logical segments.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1276" y="4219575"/>
            <a:ext cx="439444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Interactive Plots: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Fully built with the Plotly engine integrated in Streamlit.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526" y="3090862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526" y="3662362"/>
            <a:ext cx="1905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526" y="4233862"/>
            <a:ext cx="15240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5" y="485775"/>
            <a:ext cx="1120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Space Grotesk"/>
              </a:rPr>
              <a:t>Multi-dimensional Analytics 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275" y="485775"/>
            <a:ext cx="57150" cy="3714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275" y="2590800"/>
            <a:ext cx="5778251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Ensures constructive, automated feedback for applicants who fall short of required skill thresholds.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3162300"/>
            <a:ext cx="544487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Skill Gap Isolation: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Detects required stack items absent from the candidate's resume.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3733800"/>
            <a:ext cx="544487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Smart Guidance: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Automatically suggests certifications (e.g. AWS, IBM Cloud) based on missing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4305300"/>
            <a:ext cx="544487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Resume Strength Booster: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Offers actionable advice to structure bullet points and summaries.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3176587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748087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319587"/>
            <a:ext cx="17145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5" y="485775"/>
            <a:ext cx="1120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Space Grotesk"/>
              </a:rPr>
              <a:t>AI Cognitive Resume Feedback 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275" y="485775"/>
            <a:ext cx="57150" cy="3714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87901" y="2569368"/>
            <a:ext cx="472782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Plus Jakarta Sans SemiBold"/>
              </a:rPr>
              <a:t>Tailored Interview Pipelines: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1276" y="2969418"/>
            <a:ext cx="439444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Difficulty Tuning: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Adjust difficulty levels from "Beginner" to "Advanced" dynamically.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1276" y="3540918"/>
            <a:ext cx="4394448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Stack-Oriented Questions: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Generates challenging technical scenarios specifically targeted at identified resume technologies (e.g. NLP, spaCy).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1276" y="4326731"/>
            <a:ext cx="439444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2C55E"/>
                </a:solidFill>
                <a:latin typeface="Plus Jakarta Sans SemiBold"/>
              </a:rPr>
              <a:t>Cheat Sheets:</a:t>
            </a:r>
            <a:r>
              <a:rPr sz="1125" b="0" i="0" u="none">
                <a:solidFill>
                  <a:srgbClr val="9CA3AF"/>
                </a:solidFill>
                <a:latin typeface="Plus Jakarta Sans"/>
              </a:rPr>
              <a:t> Generates expected answers and key conceptual points for recruiters to verify candidates.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526" y="2983706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526" y="3555206"/>
            <a:ext cx="21907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526" y="4341018"/>
            <a:ext cx="17145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5" y="485775"/>
            <a:ext cx="1120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Space Grotesk"/>
              </a:rPr>
              <a:t>Dynamic Technical Interview 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275" y="485775"/>
            <a:ext cx="57150" cy="3714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0626" y="2138362"/>
            <a:ext cx="5970746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FFFFF"/>
                </a:solidFill>
                <a:latin typeface="Space Grotesk"/>
              </a:rP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5037" y="2986087"/>
            <a:ext cx="778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Thank you for your attention! The Smart Resume Screener is ready for IBM AI Internship submission.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963" y="3852862"/>
            <a:ext cx="2381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90725" y="4195762"/>
            <a:ext cx="23367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Plus Jakarta Sans SemiBold"/>
              </a:rPr>
              <a:t>github.com/abhishek-smart-screener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313" y="3852862"/>
            <a:ext cx="2190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27550" y="4195762"/>
            <a:ext cx="23367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Plus Jakarta Sans SemiBold"/>
              </a:rPr>
              <a:t>linkedin.com/in/abhishek-ibm-intern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000" y="3852862"/>
            <a:ext cx="2476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4375" y="4195762"/>
            <a:ext cx="233689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Plus Jakarta Sans SemiBold"/>
              </a:rPr>
              <a:t>abhishek@internship-ibm.in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646</Words>
  <Application>Microsoft Office PowerPoint</Application>
  <PresentationFormat>Widescreen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Plus Jakarta Sans</vt:lpstr>
      <vt:lpstr>Plus Jakarta Sans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ABHISHEK</dc:creator>
  <cp:keywords/>
  <dc:description>generated using python-pptx</dc:description>
  <cp:lastModifiedBy>abhishekgupta5464@outlook.com</cp:lastModifiedBy>
  <cp:revision>3</cp:revision>
  <dcterms:created xsi:type="dcterms:W3CDTF">2013-01-27T09:14:16Z</dcterms:created>
  <dcterms:modified xsi:type="dcterms:W3CDTF">2026-07-18T11:59:39Z</dcterms:modified>
  <cp:category/>
</cp:coreProperties>
</file>